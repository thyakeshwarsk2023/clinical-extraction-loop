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5" r:id="rId9"/>
    <p:sldId id="266" r:id="rId10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Project 1 – BCSE497J</a:t>
            </a:r>
            <a:br>
              <a:rPr lang="en-IN" sz="3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/>
              <a:t>Constraint-Verified Clinical Document Extraction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734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THYAKESHWAR  S.K -  23BAI0194		  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SUDARSHAN -  23BCB0026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THEJAS GOWDA A D  - 23BCB0175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z="2000" b="1" dirty="0">
                <a:latin typeface="Times New Roman"/>
                <a:cs typeface="Times New Roman"/>
              </a:rPr>
              <a:t>DR SATHYA K </a:t>
            </a:r>
            <a:endParaRPr lang="en-US"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design, implement, and validate a </a:t>
            </a:r>
            <a:r>
              <a:rPr lang="en-US" b="1" dirty="0"/>
              <a:t>self-correcting, closed-loop, and risk-weighted document AI architecture</a:t>
            </a:r>
            <a:r>
              <a:rPr lang="en-US" dirty="0"/>
              <a:t> that autonomously detects, isolates, and repairs numerical extraction errors on degraded clinical lab reports using deterministic physiological mathematics and targeted machine-vision enhancement.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DED8F-1EBD-2E10-598E-0CA3F56F05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b="1" dirty="0"/>
                  <a:t>The Problem:</a:t>
                </a:r>
                <a:r>
                  <a:rPr lang="en-US" dirty="0"/>
                  <a:t> Current VLMs fail silently on noisy lab reports, producing incorrect numbers (e.g.,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110</m:t>
                    </m:r>
                  </m:oMath>
                </a14:m>
                <a:r>
                  <a:rPr lang="en-US" dirty="0"/>
                  <a:t>instead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11.0</m:t>
                    </m:r>
                  </m:oMath>
                </a14:m>
                <a:r>
                  <a:rPr lang="en-US" dirty="0"/>
                  <a:t>) with high confidence, introducing direct clinical safety risks.</a:t>
                </a:r>
              </a:p>
              <a:p>
                <a:r>
                  <a:rPr lang="en-US" b="1" dirty="0"/>
                  <a:t>The Proposed System:</a:t>
                </a:r>
                <a:r>
                  <a:rPr lang="en-US" dirty="0"/>
                  <a:t> A 5-stage neuro-symbolic architecture that marries probabilistic AI vision with deterministic clinical math rules .</a:t>
                </a:r>
              </a:p>
              <a:p>
                <a:r>
                  <a:rPr lang="en-US" b="1" dirty="0"/>
                  <a:t>The Repair Mechanism:</a:t>
                </a:r>
                <a:r>
                  <a:rPr lang="en-US" dirty="0"/>
                  <a:t> When math checks fail, the engine crops the suspect cell, strips paper noise via </a:t>
                </a:r>
                <a:r>
                  <a:rPr lang="en-US" b="1" dirty="0"/>
                  <a:t>Euclidean Graph-Cut</a:t>
                </a:r>
                <a:r>
                  <a:rPr lang="en-US" dirty="0"/>
                  <a:t>, and sharpens the image using </a:t>
                </a:r>
                <a:r>
                  <a:rPr lang="en-US" b="1" dirty="0"/>
                  <a:t>4× Real-ESRGAN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Risk-Weighted Compute:</a:t>
                </a:r>
                <a:r>
                  <a:rPr lang="en-US" dirty="0"/>
                  <a:t> High-stakes medical values (Hemoglobin, Potassium) receive top-tier compute priority during re-extraction.</a:t>
                </a:r>
              </a:p>
              <a:p>
                <a:r>
                  <a:rPr lang="en-US" b="1" dirty="0"/>
                  <a:t>Primary Impact:</a:t>
                </a:r>
                <a:r>
                  <a:rPr lang="en-US" dirty="0"/>
                  <a:t> Achieves self-healing numerical accuracy without human-in-the-loop bottlenecks, aligning with </a:t>
                </a:r>
                <a:r>
                  <a:rPr lang="en-US" b="1" dirty="0"/>
                  <a:t>UN SDG Target 3.8</a:t>
                </a:r>
                <a:endParaRPr lang="en-US" dirty="0"/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DDED8F-1EBD-2E10-598E-0CA3F56F05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08-09-2026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F4F61163-2D57-F921-35FA-05ADB6D9AF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9222818"/>
              </p:ext>
            </p:extLst>
          </p:nvPr>
        </p:nvGraphicFramePr>
        <p:xfrm>
          <a:off x="272716" y="1443788"/>
          <a:ext cx="11582400" cy="5411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>
                  <a:extLst>
                    <a:ext uri="{9D8B030D-6E8A-4147-A177-3AD203B41FA5}">
                      <a16:colId xmlns:a16="http://schemas.microsoft.com/office/drawing/2014/main" val="306412798"/>
                    </a:ext>
                  </a:extLst>
                </a:gridCol>
                <a:gridCol w="2303646">
                  <a:extLst>
                    <a:ext uri="{9D8B030D-6E8A-4147-A177-3AD203B41FA5}">
                      <a16:colId xmlns:a16="http://schemas.microsoft.com/office/drawing/2014/main" val="1907216620"/>
                    </a:ext>
                  </a:extLst>
                </a:gridCol>
                <a:gridCol w="2329314">
                  <a:extLst>
                    <a:ext uri="{9D8B030D-6E8A-4147-A177-3AD203B41FA5}">
                      <a16:colId xmlns:a16="http://schemas.microsoft.com/office/drawing/2014/main" val="3012777940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1630627083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175106972"/>
                    </a:ext>
                  </a:extLst>
                </a:gridCol>
              </a:tblGrid>
              <a:tr h="839815">
                <a:tc>
                  <a:txBody>
                    <a:bodyPr/>
                    <a:lstStyle/>
                    <a:p>
                      <a:r>
                        <a:rPr lang="en-US" dirty="0"/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Pros/Cons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275985"/>
                  </a:ext>
                </a:extLst>
              </a:tr>
              <a:tr h="2507643">
                <a:tc>
                  <a:txBody>
                    <a:bodyPr/>
                    <a:lstStyle/>
                    <a:p>
                      <a:r>
                        <a:rPr lang="en-US" b="1" dirty="0" err="1"/>
                        <a:t>VividMed</a:t>
                      </a:r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i="1" dirty="0"/>
                        <a:t>(NAACL 2025)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Medical vision-language model with versatile visual grounding for clinical images &amp; 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Multimodal VLM pre-trained on fine-grained bounding-box region alignments for medical artifacts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Pro:</a:t>
                      </a:r>
                      <a:r>
                        <a:rPr lang="en-US" dirty="0"/>
                        <a:t> Excellent spatial grounding for specific medical regions.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Con:</a:t>
                      </a:r>
                      <a:r>
                        <a:rPr lang="en-US" dirty="0"/>
                        <a:t> Lacks deterministic symbolic math rules to verify if extracted numbers make sense.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Replaces LayoutLMv3:</a:t>
                      </a:r>
                      <a:r>
                        <a:rPr lang="en-US" dirty="0"/>
                        <a:t> Justifies using spatial bounding boxes to locate text, while proving that even modern medical VLMs lack physiological mathematical guardrails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565105"/>
                  </a:ext>
                </a:extLst>
              </a:tr>
              <a:tr h="1930229">
                <a:tc>
                  <a:txBody>
                    <a:bodyPr/>
                    <a:lstStyle/>
                    <a:p>
                      <a:r>
                        <a:rPr lang="en-US" b="1" dirty="0"/>
                        <a:t>Qwen2.5-VL</a:t>
                      </a:r>
                      <a:r>
                        <a:rPr lang="en-US" dirty="0"/>
                        <a:t> (Bai et al., 2025)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Zero-shot structured extraction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Dynamic-resolution vision encoder + LLM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Pro:</a:t>
                      </a:r>
                      <a:r>
                        <a:rPr lang="en-US" dirty="0"/>
                        <a:t> Strong zero-shot extraction with pixel-level coordinate outputs</a:t>
                      </a:r>
                    </a:p>
                    <a:p>
                      <a:r>
                        <a:rPr lang="en-US" b="1" dirty="0"/>
                        <a:t>Con:</a:t>
                      </a:r>
                      <a:r>
                        <a:rPr lang="en-US" dirty="0"/>
                        <a:t> No risk-aware compute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Attention weights are usable for token-to-pixel grounding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5382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C85E7A6-00B8-07EB-5747-D2E0DF8C9F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1513118"/>
              </p:ext>
            </p:extLst>
          </p:nvPr>
        </p:nvGraphicFramePr>
        <p:xfrm>
          <a:off x="457200" y="0"/>
          <a:ext cx="11582401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3614">
                  <a:extLst>
                    <a:ext uri="{9D8B030D-6E8A-4147-A177-3AD203B41FA5}">
                      <a16:colId xmlns:a16="http://schemas.microsoft.com/office/drawing/2014/main" val="2154532516"/>
                    </a:ext>
                  </a:extLst>
                </a:gridCol>
                <a:gridCol w="2189749">
                  <a:extLst>
                    <a:ext uri="{9D8B030D-6E8A-4147-A177-3AD203B41FA5}">
                      <a16:colId xmlns:a16="http://schemas.microsoft.com/office/drawing/2014/main" val="3684874774"/>
                    </a:ext>
                  </a:extLst>
                </a:gridCol>
                <a:gridCol w="2445848">
                  <a:extLst>
                    <a:ext uri="{9D8B030D-6E8A-4147-A177-3AD203B41FA5}">
                      <a16:colId xmlns:a16="http://schemas.microsoft.com/office/drawing/2014/main" val="3782045879"/>
                    </a:ext>
                  </a:extLst>
                </a:gridCol>
                <a:gridCol w="2850119">
                  <a:extLst>
                    <a:ext uri="{9D8B030D-6E8A-4147-A177-3AD203B41FA5}">
                      <a16:colId xmlns:a16="http://schemas.microsoft.com/office/drawing/2014/main" val="184328679"/>
                    </a:ext>
                  </a:extLst>
                </a:gridCol>
                <a:gridCol w="2183071">
                  <a:extLst>
                    <a:ext uri="{9D8B030D-6E8A-4147-A177-3AD203B41FA5}">
                      <a16:colId xmlns:a16="http://schemas.microsoft.com/office/drawing/2014/main" val="2570390293"/>
                    </a:ext>
                  </a:extLst>
                </a:gridCol>
              </a:tblGrid>
              <a:tr h="1069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Paper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Objective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Methodology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Pros / Cons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/>
                          <a:latin typeface="Google Sans Text"/>
                        </a:rPr>
                        <a:t>Key Finding / Role in Your Project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393887"/>
                  </a:ext>
                </a:extLst>
              </a:tr>
              <a:tr h="2429027">
                <a:tc>
                  <a:txBody>
                    <a:bodyPr/>
                    <a:lstStyle/>
                    <a:p>
                      <a:r>
                        <a:rPr lang="en-US" b="1" dirty="0"/>
                        <a:t>KPI-Check</a:t>
                      </a:r>
                      <a:endParaRPr lang="en-US" dirty="0"/>
                    </a:p>
                    <a:p>
                      <a:br>
                        <a:rPr lang="en-US" dirty="0"/>
                      </a:br>
                      <a:endParaRPr lang="en-US" dirty="0"/>
                    </a:p>
                    <a:p>
                      <a:r>
                        <a:rPr lang="en-US" i="1" dirty="0"/>
                        <a:t>(Hillebrand et al., 2022)</a:t>
                      </a:r>
                      <a:endParaRPr lang="en-US" dirty="0"/>
                    </a:p>
                    <a:p>
                      <a:pPr>
                        <a:spcAft>
                          <a:spcPts val="2400"/>
                        </a:spcAft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/>
                        <a:t>Cross-check and audit numerical consistency across document text and tables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/>
                        <a:t>Named Entity Recognition (NER) + BERT-based symbolic matching engine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Pro:</a:t>
                      </a:r>
                      <a:r>
                        <a:rPr lang="en-US" dirty="0"/>
                        <a:t> Effectively detects numerical contradictions.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Con:</a:t>
                      </a:r>
                      <a:r>
                        <a:rPr lang="en-US" dirty="0"/>
                        <a:t> Only flags errors for human review; cannot auto-correct or fix image pixels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/>
                        <a:t>Proves mathematical auditing works, but highlights the missing closed-loop feedback to the image source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417249796"/>
                  </a:ext>
                </a:extLst>
              </a:tr>
              <a:tr h="3359291">
                <a:tc>
                  <a:txBody>
                    <a:bodyPr/>
                    <a:lstStyle/>
                    <a:p>
                      <a:r>
                        <a:rPr lang="en-US" b="1" dirty="0"/>
                        <a:t>Real-ESRGAN</a:t>
                      </a:r>
                      <a:endParaRPr lang="en-US" dirty="0"/>
                    </a:p>
                    <a:p>
                      <a:br>
                        <a:rPr lang="en-US" dirty="0"/>
                      </a:br>
                      <a:endParaRPr lang="en-US" dirty="0"/>
                    </a:p>
                    <a:p>
                      <a:r>
                        <a:rPr lang="en-US" i="1" dirty="0"/>
                        <a:t>(Wang et al., 2021)</a:t>
                      </a:r>
                      <a:endParaRPr lang="en-US" dirty="0"/>
                    </a:p>
                    <a:p>
                      <a:pPr>
                        <a:spcAft>
                          <a:spcPts val="2400"/>
                        </a:spcAft>
                        <a:buNone/>
                      </a:pP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/>
                        <a:t>Blind super-resolution for degraded real-world images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dirty="0"/>
                        <a:t>High-order synthetic degradation training with deep CNNs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Pro:</a:t>
                      </a:r>
                      <a:r>
                        <a:rPr lang="en-US" dirty="0"/>
                        <a:t> Sharpens micro-text, small digits, and decimal points.</a:t>
                      </a:r>
                    </a:p>
                    <a:p>
                      <a:endParaRPr lang="en-US" dirty="0"/>
                    </a:p>
                    <a:p>
                      <a:r>
                        <a:rPr lang="en-US" b="1" dirty="0"/>
                        <a:t>Con:</a:t>
                      </a:r>
                      <a:r>
                        <a:rPr lang="en-US" dirty="0"/>
                        <a:t> Amplifies paper smudges if applied without pre-segmentation.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en-US" b="1" dirty="0"/>
                        <a:t>Justifies Image Repair Gate:</a:t>
                      </a:r>
                      <a:r>
                        <a:rPr lang="en-US" dirty="0"/>
                        <a:t> Proves 4× upscaling restores unreadable numbers, while justifying your Graph-Cut step to strip background noise first</a:t>
                      </a:r>
                      <a:endParaRPr lang="en-US" dirty="0"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6774552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C2743-4D5D-C69D-B599-B9E274FE4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69338-C6A0-5B80-B2A0-E484CFBD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DAAB4-3D3D-F39C-5FAA-EFFE8539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292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750"/>
            <a:ext cx="10515600" cy="4748213"/>
          </a:xfrm>
        </p:spPr>
        <p:txBody>
          <a:bodyPr>
            <a:normAutofit fontScale="25000" lnSpcReduction="20000"/>
          </a:bodyPr>
          <a:lstStyle/>
          <a:p>
            <a:r>
              <a:rPr lang="en-US" sz="9600" b="1" dirty="0"/>
              <a:t>No Closed-Loop Feedback to Image Source</a:t>
            </a:r>
            <a:r>
              <a:rPr lang="en-US" sz="9600" dirty="0"/>
              <a:t> Current Document AI models (LayoutLMv3, Qwen2.5-VL) are strictly feed-forward—they extract data once and stop, never automatically re-examining the source image when an extraction error occurs.</a:t>
            </a:r>
          </a:p>
          <a:p>
            <a:r>
              <a:rPr lang="en-US" sz="9600" b="1" dirty="0"/>
              <a:t>Detection Without Autonomous Resolution</a:t>
            </a:r>
            <a:r>
              <a:rPr lang="en-US" sz="9600" dirty="0"/>
              <a:t> Numerical auditing tools (like KPI-Check) use symbolic math to flag contradictions, but rely entirely on human intervention rather than self-healing the error.</a:t>
            </a:r>
          </a:p>
          <a:p>
            <a:r>
              <a:rPr lang="en-US" sz="9600" b="1" dirty="0"/>
              <a:t>Visual Grounding Is Not Wired into Correction</a:t>
            </a:r>
            <a:r>
              <a:rPr lang="en-US" sz="9600" dirty="0"/>
              <a:t> While VLMs output attention weights and bounding boxes for explainability, no prior system uses this spatial data to trigger a targeted, cropped machine-vision repair loop.</a:t>
            </a:r>
          </a:p>
          <a:p>
            <a:r>
              <a:rPr lang="en-US" sz="9600" b="1" dirty="0"/>
              <a:t>Uniform Scrutiny Regardless of Clinical Risk</a:t>
            </a:r>
            <a:r>
              <a:rPr lang="en-US" sz="9600" dirty="0"/>
              <a:t> Existing models spend identical compute resources on low-risk metadata (e.g., test date) as they do on high-risk clinical markers (e.g., Potassium or Hemoglobin).</a:t>
            </a:r>
          </a:p>
          <a:p>
            <a:r>
              <a:rPr lang="en-US" sz="9600" b="1" dirty="0"/>
              <a:t>Absence of Deterministic Clinical Guardrails</a:t>
            </a:r>
            <a:r>
              <a:rPr lang="en-US" sz="9600" dirty="0"/>
              <a:t> Existing medical document AI relies purely on probabilistic neural confidence scores, lacking non-negotiable physiological laws (e.g., the </a:t>
            </a:r>
            <a:r>
              <a:rPr lang="en-US" sz="9600" dirty="0" err="1"/>
              <a:t>Friedewald</a:t>
            </a:r>
            <a:r>
              <a:rPr lang="en-US" sz="9600" dirty="0"/>
              <a:t> equation) to act as hard, symbolic validation gates against silent hallucinations.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550213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83ADE1-559A-2DC2-A801-6A915E106C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7734"/>
                <a:ext cx="10515600" cy="491923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b="1" dirty="0"/>
                  <a:t>1. Technical Objectives</a:t>
                </a:r>
                <a:endParaRPr lang="en-US" dirty="0"/>
              </a:p>
              <a:p>
                <a:r>
                  <a:rPr lang="en-US" b="1" dirty="0"/>
                  <a:t>01. Closed-Loop Autonomous Pipeline:</a:t>
                </a:r>
                <a:r>
                  <a:rPr lang="en-US" dirty="0"/>
                  <a:t> Design and implement an end-to-end 5-stage pipeline (</a:t>
                </a:r>
                <a:r>
                  <a:rPr lang="en-US" b="1" dirty="0"/>
                  <a:t>Extract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/>
                  <a:t>Verify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/>
                  <a:t>Segment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/>
                  <a:t>Enhance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b="1" dirty="0"/>
                  <a:t>Re-extract</a:t>
                </a:r>
                <a:r>
                  <a:rPr lang="en-US" dirty="0"/>
                  <a:t>) with automatic </a:t>
                </a:r>
                <a:r>
                  <a:rPr lang="en-US"/>
                  <a:t>convergence detection .</a:t>
                </a:r>
                <a:endParaRPr lang="en-US" dirty="0"/>
              </a:p>
              <a:p>
                <a:r>
                  <a:rPr lang="en-US" b="1" dirty="0"/>
                  <a:t>02. Deterministic Constraint Engine:</a:t>
                </a:r>
                <a:r>
                  <a:rPr lang="en-US" dirty="0"/>
                  <a:t> Construct a rule engine (constraints .</a:t>
                </a:r>
                <a:r>
                  <a:rPr lang="en-US" dirty="0" err="1"/>
                  <a:t>Yaml</a:t>
                </a:r>
                <a:r>
                  <a:rPr lang="en-US" dirty="0"/>
                  <a:t> ) encoding clinical identities ( </a:t>
                </a:r>
                <a:r>
                  <a:rPr lang="en-US" dirty="0" err="1"/>
                  <a:t>Friedewald</a:t>
                </a:r>
                <a:r>
                  <a:rPr lang="en-US" dirty="0"/>
                  <a:t> equation, Hematocrit–Hemoglobin ratios) and per-field criticality weights 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).</a:t>
                </a:r>
              </a:p>
              <a:p>
                <a:r>
                  <a:rPr lang="en-US" b="1" dirty="0"/>
                  <a:t>03. Machine Vision Repair Gate:</a:t>
                </a:r>
                <a:r>
                  <a:rPr lang="en-US" dirty="0"/>
                  <a:t> Integrate </a:t>
                </a:r>
                <a:r>
                  <a:rPr lang="en-US" b="1" dirty="0"/>
                  <a:t>Euclidean Graph-Cut pixel segmentation</a:t>
                </a:r>
                <a:r>
                  <a:rPr lang="en-US" dirty="0"/>
                  <a:t>, CLAHE contrast normalization, and </a:t>
                </a:r>
                <a:r>
                  <a:rPr lang="en-US" b="1" dirty="0"/>
                  <a:t>4× Real-ESRGAN super-resolution</a:t>
                </a:r>
                <a:r>
                  <a:rPr lang="en-US" dirty="0"/>
                  <a:t> on isolated bounding boxes.</a:t>
                </a:r>
              </a:p>
              <a:p>
                <a:r>
                  <a:rPr lang="en-US" b="1" dirty="0"/>
                  <a:t>04. Risk-Proportional Compute Allocation:</a:t>
                </a:r>
                <a:r>
                  <a:rPr lang="en-US" dirty="0"/>
                  <a:t> Dynamically route high-criticality fields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/>
                      <m:t>Weight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≥4/5</m:t>
                    </m:r>
                  </m:oMath>
                </a14:m>
                <a:r>
                  <a:rPr lang="en-US" dirty="0"/>
                  <a:t>, e.g., Potassium, Hemoglobin) to high-capacity models while low-risk metadata uses lightweight models.</a:t>
                </a:r>
              </a:p>
              <a:p>
                <a:r>
                  <a:rPr lang="en-US" b="1" dirty="0"/>
                  <a:t>05. Visual Grounding Delta Logging:</a:t>
                </a:r>
                <a:r>
                  <a:rPr lang="en-US" dirty="0"/>
                  <a:t> Track and report pre- and post-correction token confidence scores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nor/>
                      </m:rPr>
                      <a:rPr lang="en-US" i="0"/>
                      <m:t>confidence</m:t>
                    </m:r>
                  </m:oMath>
                </a14:m>
                <a:r>
                  <a:rPr lang="en-US" dirty="0"/>
                  <a:t>) as quantitative evidence of visual grounding improvement.</a:t>
                </a:r>
              </a:p>
              <a:p>
                <a:endParaRPr lang="en-US" dirty="0"/>
              </a:p>
              <a:p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83ADE1-559A-2DC2-A801-6A915E106C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7734"/>
                <a:ext cx="10515600" cy="4919230"/>
              </a:xfrm>
              <a:blipFill>
                <a:blip r:embed="rId2"/>
                <a:stretch>
                  <a:fillRect l="-812" t="-2850" r="-1449" b="-1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08-09-2026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|			|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3F9A6-5AE7-0440-F988-C6E0A6A23D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62000"/>
                <a:ext cx="10515600" cy="5414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2</a:t>
                </a:r>
                <a:r>
                  <a:rPr lang="en-US" sz="2400" b="1" dirty="0"/>
                  <a:t>. UN SDG Alignment &amp; Impact</a:t>
                </a:r>
                <a:endParaRPr lang="en-US" sz="2400" dirty="0"/>
              </a:p>
              <a:p>
                <a:r>
                  <a:rPr lang="en-US" sz="2400" b="1" dirty="0"/>
                  <a:t>Primary Alignment:</a:t>
                </a:r>
                <a:r>
                  <a:rPr lang="en-US" sz="2400" dirty="0"/>
                  <a:t> </a:t>
                </a:r>
                <a:r>
                  <a:rPr lang="en-US" sz="2400" b="1" dirty="0"/>
                  <a:t>SDG 3 — Good Health and Well-Being</a:t>
                </a:r>
                <a:r>
                  <a:rPr lang="en-US" sz="2400" dirty="0"/>
                  <a:t> (Target 3.8: Safe, reliable digital health services).</a:t>
                </a:r>
              </a:p>
              <a:p>
                <a:r>
                  <a:rPr lang="en-US" sz="2400" b="1" dirty="0"/>
                  <a:t>Clinical Impact:</a:t>
                </a:r>
                <a:r>
                  <a:rPr lang="en-US" sz="2400" dirty="0"/>
                  <a:t> Prevents catastrophic misdiagnoses by eliminating silent numerical hallucinations in patient health records.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/>
                  <a:t>3. Target Technology Readiness Level (TRL)</a:t>
                </a:r>
                <a:endParaRPr lang="en-US" sz="2400" dirty="0"/>
              </a:p>
              <a:p>
                <a:r>
                  <a:rPr lang="en-US" sz="2400" b="1" dirty="0"/>
                  <a:t>Target:</a:t>
                </a:r>
                <a:r>
                  <a:rPr lang="en-US" sz="2400" dirty="0"/>
                  <a:t> </a:t>
                </a:r>
                <a:r>
                  <a:rPr lang="en-US" sz="2400" b="1" dirty="0"/>
                  <a:t>TRL 3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b="1" dirty="0"/>
                  <a:t>TRL 4 (Laboratory Validation)</a:t>
                </a:r>
                <a:endParaRPr lang="en-US" sz="2400" dirty="0"/>
              </a:p>
              <a:p>
                <a:pPr lvl="1"/>
                <a:r>
                  <a:rPr lang="en-US" b="1" dirty="0"/>
                  <a:t>TRL 3:</a:t>
                </a:r>
                <a:r>
                  <a:rPr lang="en-US" dirty="0"/>
                  <a:t> Verified core algorithm combining VLM extraction, symbolic rules, and 4× super-resolution on synthetic data.</a:t>
                </a:r>
              </a:p>
              <a:p>
                <a:pPr lvl="1"/>
                <a:r>
                  <a:rPr lang="en-US" b="1" dirty="0"/>
                  <a:t>TRL 4:</a:t>
                </a:r>
                <a:r>
                  <a:rPr lang="en-US" dirty="0"/>
                  <a:t> End-to-end integration tested and benchmarked on synthetic degraded Indian lab reports with injected noise and blur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C3F9A6-5AE7-0440-F988-C6E0A6A23D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62000"/>
                <a:ext cx="10515600" cy="5414963"/>
              </a:xfrm>
              <a:blipFill>
                <a:blip r:embed="rId2"/>
                <a:stretch>
                  <a:fillRect l="-1217" t="-1802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BDFC4-FE23-902B-96A3-E255BB38B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B9AF5-88A8-F072-06AC-2804469E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804CF-8509-3927-08EE-152DB078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813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5FAC-AC4C-96C1-0606-9847019F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AFB6F-66B8-3F2E-3656-4955EDF8A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00"/>
            <a:ext cx="10515600" cy="47672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[1] L. Hillebrand, T. </a:t>
            </a:r>
            <a:r>
              <a:rPr lang="en-US" dirty="0" err="1"/>
              <a:t>Deußer</a:t>
            </a:r>
            <a:r>
              <a:rPr lang="en-US" dirty="0"/>
              <a:t>, T. Dilmaghani, B. Kliem, R. Loitz, and R. Sifa, "Towards automating numerical consistency checks in financial reports," in Proc. IEEE Int. Conf. Big Data (</a:t>
            </a:r>
            <a:r>
              <a:rPr lang="en-US" dirty="0" err="1"/>
              <a:t>BigData</a:t>
            </a:r>
            <a:r>
              <a:rPr lang="en-US" dirty="0"/>
              <a:t>), Osaka, Japan, 2022, pp. 2145-2152.</a:t>
            </a:r>
          </a:p>
          <a:p>
            <a:endParaRPr lang="en-US" dirty="0"/>
          </a:p>
          <a:p>
            <a:r>
              <a:rPr lang="en-US" dirty="0"/>
              <a:t>[2] X. Wang, L. Xie, J. Dong, and C. C. Loy, "Real-ESRGAN: Training real-world blind super-resolution with pure synthetic data," in Proc. IEEE/CVF Int. Conf. </a:t>
            </a:r>
            <a:r>
              <a:rPr lang="en-US" dirty="0" err="1"/>
              <a:t>Comput</a:t>
            </a:r>
            <a:r>
              <a:rPr lang="en-US" dirty="0"/>
              <a:t>. Vis. Workshops (ICCVW), Montreal, Canada, 2021, pp. 1905-1914.</a:t>
            </a:r>
          </a:p>
          <a:p>
            <a:endParaRPr lang="en-US" dirty="0"/>
          </a:p>
          <a:p>
            <a:r>
              <a:rPr lang="en-US" dirty="0"/>
              <a:t>[3] L. Luo, B. Tang, X. Chen, R. Han, and T. Chen, "</a:t>
            </a:r>
            <a:r>
              <a:rPr lang="en-US" dirty="0" err="1"/>
              <a:t>VividMed</a:t>
            </a:r>
            <a:r>
              <a:rPr lang="en-US" dirty="0"/>
              <a:t>: Vision language model with versatile visual grounding for medicine," in Proc. Conf. Nations Americas Chapter Assoc. </a:t>
            </a:r>
            <a:r>
              <a:rPr lang="en-US" dirty="0" err="1"/>
              <a:t>Comput</a:t>
            </a:r>
            <a:r>
              <a:rPr lang="en-US" dirty="0"/>
              <a:t>. Linguist.: Human Lang. Technol. (NAACL), Albuquerque, NM, USA, 2025, pp. 1800-1821.</a:t>
            </a:r>
          </a:p>
          <a:p>
            <a:endParaRPr lang="en-US" dirty="0"/>
          </a:p>
          <a:p>
            <a:r>
              <a:rPr lang="en-US" dirty="0"/>
              <a:t>[4] J. Bai et al., "Qwen2.5-VL technical report," </a:t>
            </a:r>
            <a:r>
              <a:rPr lang="en-US" dirty="0" err="1"/>
              <a:t>arXiv</a:t>
            </a:r>
            <a:r>
              <a:rPr lang="en-US" dirty="0"/>
              <a:t> preprint arXiv:2502.13923, Feb. 2025.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FB7EE-209E-DB95-1BEC-14FF1BC0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CF267-0E6A-B3A6-3D60-EA1645AC0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D8F42-C9DB-7F8A-4D24-A3E8EDD8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947497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Framework / Architecture / Block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08-09-2026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55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5A5A"/>
                </a:solidFill>
              </a:defRPr>
            </a:pPr>
            <a: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Stage 0 — Assay-Method Classifier: </a:t>
            </a:r>
            <a:r>
              <a:rPr sz="1450" b="0">
                <a:solidFill>
                  <a:srgbClr val="1E1E1E"/>
                </a:solidFill>
                <a:latin typeface="Arial"/>
              </a:rPr>
              <a:t>Dynamically inspects methodology headers to determine verification routing (Direct Enzymatic Assay vs. Calculated Friedewald Panel).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Stage 1 — Multimodal Base Extraction: </a:t>
            </a:r>
            <a:r>
              <a:rPr sz="1450" b="0">
                <a:solidFill>
                  <a:srgbClr val="1E1E1E"/>
                </a:solidFill>
                <a:latin typeface="Arial"/>
              </a:rPr>
              <a:t>Parses initial lipid values (TC, HDL, LDL, Triglycerides), localized bounding box coordinates, and token-level confidence scores.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Stage 2 &amp; 2.5 — Invariant Verifier &amp; Fault Isolation: </a:t>
            </a:r>
            <a:r>
              <a:rPr sz="1450" b="0">
                <a:solidFill>
                  <a:srgbClr val="1E1E1E"/>
                </a:solidFill>
                <a:latin typeface="Arial"/>
              </a:rPr>
              <a:t>Deterministically evaluates Friedewald equality (TC = HDL + LDL + TG/5) with physiological bounds; isolates suspect fields via algebraic counterfactual search (k=1 single-field and k=2 combinatorial pairs).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Stage 3 &amp; 4 — Vision Gate &amp; Micro-Crop Re-Extraction: </a:t>
            </a:r>
            <a:r>
              <a:rPr sz="1450" b="0">
                <a:solidFill>
                  <a:srgbClr val="1E1E1E"/>
                </a:solidFill>
                <a:latin typeface="Arial"/>
              </a:rPr>
              <a:t>Extracts targeted bounding box micro-crops for physical enhancement, visual noise suppression, and dual-model consensus verification.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Stage 5 — Bounded Loop Controller &amp; Audit Logger: </a:t>
            </a:r>
            <a:r>
              <a:rPr sz="1450" b="0">
                <a:solidFill>
                  <a:srgbClr val="1E1E1E"/>
                </a:solidFill>
                <a:latin typeface="Arial"/>
              </a:rPr>
              <a:t>Enforces an iteration budget (K &lt;= 2), executing closed-loop state updates while serializing every residual score and routing decision to a persistent JSON audit trail.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08-09-2026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55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5A5A"/>
                </a:solidFill>
              </a:defRPr>
            </a:pPr>
            <a: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Dynamic Methodology Routing: </a:t>
            </a:r>
            <a:r>
              <a:rPr sz="1450" b="0">
                <a:solidFill>
                  <a:srgbClr val="1E1E1E"/>
                </a:solidFill>
                <a:latin typeface="Arial"/>
              </a:rPr>
              <a:t>The system must dynamically adapt verification logic based on detected clinical assay headers, conditionally bypassing arithmetic equality for direct assays while enforcing biological bounds.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Deterministic Invariant Verification: </a:t>
            </a:r>
            <a:r>
              <a:rPr sz="1450" b="0">
                <a:solidFill>
                  <a:srgbClr val="1E1E1E"/>
                </a:solidFill>
                <a:latin typeface="Arial"/>
              </a:rPr>
              <a:t>The system must strictly verify extraction integrity using domain-standard physiological laws (the Friedewald identity) within a strict numerical tolerance window (+/-10%).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Autonomous Multi-Order Fault Isolation: </a:t>
            </a:r>
            <a:r>
              <a:rPr sz="1450" b="0">
                <a:solidFill>
                  <a:srgbClr val="1E1E1E"/>
                </a:solidFill>
                <a:latin typeface="Arial"/>
              </a:rPr>
              <a:t>The system must systematically isolate single-field (k=1) and double-field (k=2) transcription corruptions using algebraic counterfactual search, Levenshtein distance, and confidence scoring.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Zero-Harm Clinical Safety Bound: </a:t>
            </a:r>
            <a:r>
              <a:rPr sz="1450" b="0">
                <a:solidFill>
                  <a:srgbClr val="1E1E1E"/>
                </a:solidFill>
                <a:latin typeface="Arial"/>
              </a:rPr>
              <a:t>The system must maintain a 0.0% false-trigger rate on valid, uncorrupted clinical documents, strictly preventing false corrections on clean patient records.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Complete Traceability &amp; Bounded Abstention: </a:t>
            </a:r>
            <a:r>
              <a:rPr sz="1450" b="0">
                <a:solidFill>
                  <a:srgbClr val="1E1E1E"/>
                </a:solidFill>
                <a:latin typeface="Arial"/>
              </a:rPr>
              <a:t>The system must log every internal hypothesis, residual score, and state mutation, safely escalating unresolvable anomalies (K &gt; max_attempts) to human pathologist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Modules &amp; Implementation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08-09-2026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55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5A5A"/>
                </a:solidFill>
              </a:defRPr>
            </a:pPr>
            <a: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src/stage0_classifier.py (Assay Classifier): </a:t>
            </a:r>
            <a:r>
              <a:rPr sz="1450" b="0">
                <a:solidFill>
                  <a:srgbClr val="1E1E1E"/>
                </a:solidFill>
                <a:latin typeface="Arial"/>
              </a:rPr>
              <a:t>Implements AssayClassifier with regex and heuristic pattern matching to route between DIRECT_MEASURED and FRIEDEWALD paths.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src/stage1_extract.py (Document State Extractor): </a:t>
            </a:r>
            <a:r>
              <a:rPr sz="1450" b="0">
                <a:solidFill>
                  <a:srgbClr val="1E1E1E"/>
                </a:solidFill>
                <a:latin typeface="Arial"/>
              </a:rPr>
              <a:t>Standardized multimodal ingestion interface extracting canonical values, confidence scores, and bounding box coordinates.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src/stage2_constraints.py (Constraint Engine): </a:t>
            </a:r>
            <a:r>
              <a:rPr sz="1450" b="0">
                <a:solidFill>
                  <a:srgbClr val="1E1E1E"/>
                </a:solidFill>
                <a:latin typeface="Arial"/>
              </a:rPr>
              <a:t>Enforces physiological bounds, canonical unit normalization (mmol/L &lt;-&gt; mg/dL), and Friedewald invariant residual calculation.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src/stage2_isolation.py (Hierarchical Isolation Engine): </a:t>
            </a:r>
            <a:r>
              <a:rPr sz="1450" b="0">
                <a:solidFill>
                  <a:srgbClr val="1E1E1E"/>
                </a:solidFill>
                <a:latin typeface="Arial"/>
              </a:rPr>
              <a:t>Evaluates single-field algebraic counterfactuals and discrete combinatorial pairs using composite edit-distance and confidence penalties.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src/pipeline.py (Closed-Loop Orchestrator): </a:t>
            </a:r>
            <a:r>
              <a:rPr sz="1450" b="0">
                <a:solidFill>
                  <a:srgbClr val="1E1E1E"/>
                </a:solidFill>
                <a:latin typeface="Arial"/>
              </a:rPr>
              <a:t>Core state machine wiring all 5 stages into a bounded iterative while-loop, managing state mutation and final status termination.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evals/run_ablations.py &amp; evals/metrics.py (Benchmark Harness): </a:t>
            </a:r>
            <a:r>
              <a:rPr sz="1450" b="0">
                <a:solidFill>
                  <a:srgbClr val="1E1E1E"/>
                </a:solidFill>
                <a:latin typeface="Arial"/>
              </a:rPr>
              <a:t>Automated evaluation suite executing batch benchmark validation over hundreds of clinical reports, computing field accuracy and safety metrics.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Experiments and Results (400-Document Benchmark)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08-09-2026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55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5A5A"/>
                </a:solidFill>
              </a:defRPr>
            </a:pPr>
            <a: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5087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Dataset Scale: </a:t>
            </a:r>
            <a:r>
              <a:rPr sz="1450" b="0">
                <a:solidFill>
                  <a:srgbClr val="1E1E1E"/>
                </a:solidFill>
                <a:latin typeface="Arial"/>
              </a:rPr>
              <a:t>Evaluated on 400 clinical documents across 4 splits (200 clean, 30 clean_control, 120 corrupted_single, 50 corrupted_double).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System Reliability: </a:t>
            </a:r>
            <a:r>
              <a:rPr sz="1450" b="0">
                <a:solidFill>
                  <a:srgbClr val="1E1E1E"/>
                </a:solidFill>
                <a:latin typeface="Arial"/>
              </a:rPr>
              <a:t>91.5% Overall Convergence (366/400 documents verified &amp; finalized).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Clinical Safety (Zero Harm): </a:t>
            </a:r>
            <a:r>
              <a:rPr sz="1450" b="0">
                <a:solidFill>
                  <a:srgbClr val="1E1E1E"/>
                </a:solidFill>
                <a:latin typeface="Arial"/>
              </a:rPr>
              <a:t>0.0% False-Trigger Rate on clean_control (0/30) and clean split (0/200).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Single-Error Recovery: </a:t>
            </a:r>
            <a:r>
              <a:rPr sz="1450" b="0">
                <a:solidFill>
                  <a:srgbClr val="1E1E1E"/>
                </a:solidFill>
                <a:latin typeface="Arial"/>
              </a:rPr>
              <a:t>83.5% Post-Correction Field Accuracy across corrupted_single (n=120):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1E1E1E"/>
                </a:solidFill>
                <a:latin typeface="Arial"/>
              </a:rPr>
              <a:t>  - Field Breakdown: </a:t>
            </a:r>
            <a:r>
              <a:rPr sz="1300" b="0">
                <a:solidFill>
                  <a:srgbClr val="1E1E1E"/>
                </a:solidFill>
                <a:latin typeface="Arial"/>
              </a:rPr>
              <a:t>Total Cholesterol: 81.7% | HDL: 79.2% | LDL: 86.7% | Triglycerides: 86.7%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Corruption Typology: </a:t>
            </a:r>
            <a:r>
              <a:rPr sz="1450" b="0">
                <a:solidFill>
                  <a:srgbClr val="1E1E1E"/>
                </a:solidFill>
                <a:latin typeface="Arial"/>
              </a:rPr>
              <a:t>Smudge: 100.0% (45/45 conv) | Decimal Shift: 81.4% (35/39 conv, 61.5% iso) | Digit Swap: 65.3% (21/36 conv).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Algorithmic Optimization: </a:t>
            </a:r>
            <a:r>
              <a:rPr sz="1450" b="0">
                <a:solidFill>
                  <a:srgbClr val="1E1E1E"/>
                </a:solidFill>
                <a:latin typeface="Arial"/>
              </a:rPr>
              <a:t>Relaxing the k=1 edit-distance commit gate for same-length digit swaps unlocked a +6.5pp recovery improvement.</a:t>
            </a:r>
          </a:p>
        </p:txBody>
      </p:sp>
      <p:pic>
        <p:nvPicPr>
          <p:cNvPr id="8" name="Picture 7" descr="field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00200"/>
            <a:ext cx="4480560" cy="2588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452628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1" sz="1300">
                <a:solidFill>
                  <a:srgbClr val="004B87"/>
                </a:solidFill>
              </a:rPr>
              <a:t>Benchmark Key Finding:
</a:t>
            </a:r>
            <a:r>
              <a:rPr sz="1200">
                <a:solidFill>
                  <a:srgbClr val="1E1E1E"/>
                </a:solidFill>
              </a:rPr>
              <a:t>The invariant engine achieved a 0.0% false-trigger rate while resolving severe single and double corruptions, demonstrating clinically safe autonomy.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Conclusion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08-09-2026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55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5A5A"/>
                </a:solidFill>
              </a:defRPr>
            </a:pPr>
            <a: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70% Milestone Successfully Achieved: </a:t>
            </a:r>
            <a:r>
              <a:rPr sz="1450" b="0">
                <a:solidFill>
                  <a:srgbClr val="1E1E1E"/>
                </a:solidFill>
                <a:latin typeface="Arial"/>
              </a:rPr>
              <a:t>Formulated, implemented, and validated the closed-loop neurosymbolic architecture on a standardized 400-document clinical benchmark.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Deterministic Clinical Safety Proven: </a:t>
            </a:r>
            <a:r>
              <a:rPr sz="1450" b="0">
                <a:solidFill>
                  <a:srgbClr val="1E1E1E"/>
                </a:solidFill>
                <a:latin typeface="Arial"/>
              </a:rPr>
              <a:t>Demonstrated that algebraic counterfactual logic eliminates silent numerical hallucinations while maintaining a strict 0.0% false-trigger bound on clean data.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Inference-Time Self-Correction: </a:t>
            </a:r>
            <a:r>
              <a:rPr sz="1450" b="0">
                <a:solidFill>
                  <a:srgbClr val="1E1E1E"/>
                </a:solidFill>
                <a:latin typeface="Arial"/>
              </a:rPr>
              <a:t>Successfully corrected character-level decimal shifts and typographical mutations without costly model fine-tuning or external re-training.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1">
                <a:solidFill>
                  <a:srgbClr val="004B87"/>
                </a:solidFill>
                <a:latin typeface="Arial"/>
              </a:rPr>
              <a:t>Phase 2 Roadmap (Target: Final Review, October 2026): </a:t>
            </a:r>
            <a:r>
              <a:rPr sz="1450" b="0">
                <a:solidFill>
                  <a:srgbClr val="1E1E1E"/>
                </a:solidFill>
                <a:latin typeface="Arial"/>
              </a:rPr>
              <a:t>Active development transitioning to the physical machine-vision repair gate: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350" b="1">
                <a:solidFill>
                  <a:srgbClr val="1E1E1E"/>
                </a:solidFill>
                <a:latin typeface="Arial"/>
              </a:rPr>
              <a:t>  - 1. OpenCV Graph-Cut Segmentation: </a:t>
            </a:r>
            <a:r>
              <a:rPr sz="1300" b="0">
                <a:solidFill>
                  <a:srgbClr val="1E1E1E"/>
                </a:solidFill>
                <a:latin typeface="Arial"/>
              </a:rPr>
              <a:t>Deploy morphological pixel graph-cut into stage3_vision_gate.py to strip paper smudges, stamps, and table rulings.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350" b="1">
                <a:solidFill>
                  <a:srgbClr val="1E1E1E"/>
                </a:solidFill>
                <a:latin typeface="Arial"/>
              </a:rPr>
              <a:t>  - 2. Real-ESRGAN 4x Super-Resolution: </a:t>
            </a:r>
            <a:r>
              <a:rPr sz="1300" b="0">
                <a:solidFill>
                  <a:srgbClr val="1E1E1E"/>
                </a:solidFill>
                <a:latin typeface="Arial"/>
              </a:rPr>
              <a:t>Deploy pre-trained blind super-resolution weights to clarify degraded numerical micro-crops prior to re-extraction.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350" b="1">
                <a:solidFill>
                  <a:srgbClr val="1E1E1E"/>
                </a:solidFill>
                <a:latin typeface="Arial"/>
              </a:rPr>
              <a:t>  - 3. Dual-Model Consensus &amp; Delta Confidence: </a:t>
            </a:r>
            <a:r>
              <a:rPr sz="1300" b="0">
                <a:solidFill>
                  <a:srgbClr val="1E1E1E"/>
                </a:solidFill>
                <a:latin typeface="Arial"/>
              </a:rPr>
              <a:t>Track token-level confidence deltas (Delta-conf) during re-extraction as empirical evidence of visual grounding.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5A"/>
                </a:solidFill>
              </a:defRPr>
            </a:pPr>
            <a:r>
              <a:t>08-09-2026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5508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5A5A"/>
                </a:solidFill>
              </a:defRPr>
            </a:pPr>
            <a: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355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5A5A5A"/>
                </a:solidFill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E1E1E"/>
                </a:solidFill>
                <a:latin typeface="Arial"/>
              </a:rPr>
              <a:t>[1] L. Hillebrand, T. Deußer, T. Dilmaghani, B. Kliem, R. Loitz, and R. Sifa, "Towards automating numerical consistency checks in financial reports," in Proc. IEEE Int. Conf. Big Data (BigData), Osaka, Japan, 2022, pp. 2145-2152.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E1E1E"/>
                </a:solidFill>
                <a:latin typeface="Arial"/>
              </a:rPr>
              <a:t>[2] X. Wang, L. Xie, J. Dong, and C. C. Loy, "Real-ESRGAN: Training real-world blind super-resolution with pure synthetic data," in Proc. IEEE/CVF Int. Conf. Comput. Vis. Workshops (ICCVW), Montreal, Canada, 2021, pp. 1905-1914.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E1E1E"/>
                </a:solidFill>
                <a:latin typeface="Arial"/>
              </a:rPr>
              <a:t>[3] L. Luo, B. Tang, X. Chen, R. Han, and T. Chen, "VividMed: Vision language model with versatile visual grounding for medicine," in Proc. Conf. Nations Americas Chapter Assoc. Comput. Linguist.: Human Lang. Technol. (NAACL), Albuquerque, NM, USA, 2025, pp. 1800-1821.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E1E1E"/>
                </a:solidFill>
                <a:latin typeface="Arial"/>
              </a:rPr>
              <a:t>[4] J. Bai et al., "Qwen2.5-VL technical report," arXiv preprint arXiv:2502.13923, Feb. 2025.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E1E1E"/>
                </a:solidFill>
                <a:latin typeface="Arial"/>
              </a:rPr>
              <a:t>[5] W. T. Friedewald, R. I. Levy, and D. S. Fredrickson, "Estimation of the concentration of low-density lipoprotein cholesterol in plasma, without use of the preparative ultracentrifuge," Clinical Chemistry, vol. 18, no. 6, pp. 499-502, 1972.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1170</Words>
  <Application>Microsoft Office PowerPoint</Application>
  <PresentationFormat>Widescreen</PresentationFormat>
  <Paragraphs>115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Google Sans Text</vt:lpstr>
      <vt:lpstr>Times New Roman</vt:lpstr>
      <vt:lpstr>Office Theme</vt:lpstr>
      <vt:lpstr>B.Tech Project 1 – BCSE497J Constraint-Verified Clinical Document Extraction</vt:lpstr>
      <vt:lpstr>Aim</vt:lpstr>
      <vt:lpstr>Abstract</vt:lpstr>
      <vt:lpstr>Literature Review</vt:lpstr>
      <vt:lpstr>PowerPoint Presentation</vt:lpstr>
      <vt:lpstr>Research Gap</vt:lpstr>
      <vt:lpstr>Objectives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Thyakeshwar SK</cp:lastModifiedBy>
  <cp:revision>7</cp:revision>
  <dcterms:created xsi:type="dcterms:W3CDTF">2026-07-14T06:00:41Z</dcterms:created>
  <dcterms:modified xsi:type="dcterms:W3CDTF">2026-09-08T07:19:47Z</dcterms:modified>
</cp:coreProperties>
</file>